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20aecb092648e6" /><Relationship Type="http://schemas.openxmlformats.org/officeDocument/2006/relationships/extended-properties" Target="/docProps/app.xml" Id="R88d653e3c4da4d73" /><Relationship Type="http://schemas.openxmlformats.org/officeDocument/2006/relationships/officeDocument" Target="/ppt/presentation.xml" Id="Rf5c434d6619648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d33986bc9247d2"/>
  </p:sldMasterIdLst>
  <p:notesMasterIdLst>
    <p:notesMasterId xmlns:r="http://schemas.openxmlformats.org/officeDocument/2006/relationships" r:id="Ra8918d3b573f4d2c"/>
  </p:notesMasterIdLst>
  <p:sldIdLst>
    <p:sldId xmlns:r="http://schemas.openxmlformats.org/officeDocument/2006/relationships" id="256" r:id="Recdabb5c631d4566"/>
    <p:sldId xmlns:r="http://schemas.openxmlformats.org/officeDocument/2006/relationships" id="257" r:id="Rdfc1f9076f4241d2"/>
    <p:sldId xmlns:r="http://schemas.openxmlformats.org/officeDocument/2006/relationships" id="258" r:id="R6fd2d65509d24eb5"/>
    <p:sldId xmlns:r="http://schemas.openxmlformats.org/officeDocument/2006/relationships" id="259" r:id="Rb9ccb33119b44948"/>
    <p:sldId xmlns:r="http://schemas.openxmlformats.org/officeDocument/2006/relationships" id="260" r:id="R97cdd15f3af04463"/>
    <p:sldId xmlns:r="http://schemas.openxmlformats.org/officeDocument/2006/relationships" id="261" r:id="Rfa7ad29c93d84de1"/>
    <p:sldId xmlns:r="http://schemas.openxmlformats.org/officeDocument/2006/relationships" id="262" r:id="R3be15260063f4844"/>
    <p:sldId xmlns:r="http://schemas.openxmlformats.org/officeDocument/2006/relationships" id="263" r:id="Ra23e1a2b1ca04798"/>
    <p:sldId xmlns:r="http://schemas.openxmlformats.org/officeDocument/2006/relationships" id="264" r:id="R4f1ba65c6cc54ebe"/>
    <p:sldId xmlns:r="http://schemas.openxmlformats.org/officeDocument/2006/relationships" id="265" r:id="R729f82874a4e46d5"/>
    <p:sldId xmlns:r="http://schemas.openxmlformats.org/officeDocument/2006/relationships" id="266" r:id="R3ba218ebdc17424a"/>
    <p:sldId xmlns:r="http://schemas.openxmlformats.org/officeDocument/2006/relationships" id="267" r:id="Rce9eab7ab87f4bf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65b157f1684457" /><Relationship Type="http://schemas.openxmlformats.org/officeDocument/2006/relationships/slideMaster" Target="/ppt/slideMasters/slideMaster1.xml" Id="Rdbd33986bc9247d2" /><Relationship Type="http://schemas.openxmlformats.org/officeDocument/2006/relationships/notesMaster" Target="/ppt/notesMasters/notesMaster1.xml" Id="Ra8918d3b573f4d2c" /><Relationship Type="http://schemas.openxmlformats.org/officeDocument/2006/relationships/presProps" Target="/ppt/presProps.xml" Id="R5e27973bef8340bc" /><Relationship Type="http://schemas.openxmlformats.org/officeDocument/2006/relationships/tableStyles" Target="/ppt/tableStyles.xml" Id="Reb7585bbc7114587" /><Relationship Type="http://schemas.openxmlformats.org/officeDocument/2006/relationships/slide" Target="/ppt/slides/slide1.xml" Id="Recdabb5c631d4566" /><Relationship Type="http://schemas.openxmlformats.org/officeDocument/2006/relationships/slide" Target="/ppt/slides/slide2.xml" Id="Rdfc1f9076f4241d2" /><Relationship Type="http://schemas.openxmlformats.org/officeDocument/2006/relationships/slide" Target="/ppt/slides/slide3.xml" Id="R6fd2d65509d24eb5" /><Relationship Type="http://schemas.openxmlformats.org/officeDocument/2006/relationships/slide" Target="/ppt/slides/slide4.xml" Id="Rb9ccb33119b44948" /><Relationship Type="http://schemas.openxmlformats.org/officeDocument/2006/relationships/slide" Target="/ppt/slides/slide5.xml" Id="R97cdd15f3af04463" /><Relationship Type="http://schemas.openxmlformats.org/officeDocument/2006/relationships/slide" Target="/ppt/slides/slide6.xml" Id="Rfa7ad29c93d84de1" /><Relationship Type="http://schemas.openxmlformats.org/officeDocument/2006/relationships/slide" Target="/ppt/slides/slide7.xml" Id="R3be15260063f4844" /><Relationship Type="http://schemas.openxmlformats.org/officeDocument/2006/relationships/slide" Target="/ppt/slides/slide8.xml" Id="Ra23e1a2b1ca04798" /><Relationship Type="http://schemas.openxmlformats.org/officeDocument/2006/relationships/slide" Target="/ppt/slides/slide9.xml" Id="R4f1ba65c6cc54ebe" /><Relationship Type="http://schemas.openxmlformats.org/officeDocument/2006/relationships/slide" Target="/ppt/slides/slide10.xml" Id="R729f82874a4e46d5" /><Relationship Type="http://schemas.openxmlformats.org/officeDocument/2006/relationships/slide" Target="/ppt/slides/slide11.xml" Id="R3ba218ebdc17424a" /><Relationship Type="http://schemas.openxmlformats.org/officeDocument/2006/relationships/slide" Target="/ppt/slides/slide12.xml" Id="Rce9eab7ab87f4b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8d8b5a187546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e71ca1bd7c418f" /><Relationship Type="http://schemas.openxmlformats.org/officeDocument/2006/relationships/notesMaster" Target="/ppt/notesMasters/notesMaster1.xml" Id="R8112000c208e41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96cc8caeea4646" /><Relationship Type="http://schemas.openxmlformats.org/officeDocument/2006/relationships/notesMaster" Target="/ppt/notesMasters/notesMaster1.xml" Id="R4fcbe1e1b5ff41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878dfebbb447e0" /><Relationship Type="http://schemas.openxmlformats.org/officeDocument/2006/relationships/notesMaster" Target="/ppt/notesMasters/notesMaster1.xml" Id="R517caf2e358e4b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6e7a6de7d2485c" /><Relationship Type="http://schemas.openxmlformats.org/officeDocument/2006/relationships/notesMaster" Target="/ppt/notesMasters/notesMaster1.xml" Id="Rb663a020214145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40519e4a3d4e93" /><Relationship Type="http://schemas.openxmlformats.org/officeDocument/2006/relationships/notesMaster" Target="/ppt/notesMasters/notesMaster1.xml" Id="R169336ebffc34d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5849ef2f264d5f" /><Relationship Type="http://schemas.openxmlformats.org/officeDocument/2006/relationships/notesMaster" Target="/ppt/notesMasters/notesMaster1.xml" Id="Rc6131c80fc0249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e9f03533bb4aa1" /><Relationship Type="http://schemas.openxmlformats.org/officeDocument/2006/relationships/notesMaster" Target="/ppt/notesMasters/notesMaster1.xml" Id="R3c6dcec4d59246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fe0faa8da04df4" /><Relationship Type="http://schemas.openxmlformats.org/officeDocument/2006/relationships/notesMaster" Target="/ppt/notesMasters/notesMaster1.xml" Id="R10d10e6d09ce4e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08221c5f38411c" /><Relationship Type="http://schemas.openxmlformats.org/officeDocument/2006/relationships/notesMaster" Target="/ppt/notesMasters/notesMaster1.xml" Id="Rb185fabe99ea44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e39458af1b4f6b" /><Relationship Type="http://schemas.openxmlformats.org/officeDocument/2006/relationships/notesMaster" Target="/ppt/notesMasters/notesMaster1.xml" Id="R9268653c4ab04a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672d96ca1d40ad" /><Relationship Type="http://schemas.openxmlformats.org/officeDocument/2006/relationships/notesMaster" Target="/ppt/notesMasters/notesMaster1.xml" Id="R75aa2f1b386e40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0f8c48d1c64c91" /><Relationship Type="http://schemas.openxmlformats.org/officeDocument/2006/relationships/notesMaster" Target="/ppt/notesMasters/notesMaster1.xml" Id="Rf0894881422940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开场先说明：这是一个技术答辩，不是宣传型 PPT。</a:t>
            </a:r>
          </a:p>
          <a:p xmlns:a="http://schemas.openxmlformats.org/drawingml/2006/main">
            <a:r>
              <a:t>一句话概括项目：用 RAG 加多 Agent 工作流解释多变量时间序列异常检测结果。</a:t>
            </a:r>
          </a:p>
          <a:p xmlns:a="http://schemas.openxmlformats.org/drawingml/2006/main">
            <a:r>
              <a:t>告诉老师后面会重点讲实现：状态模型、工具沙盒、记忆、Harness 和 LangGraph。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这一页讲动机：不是只做问答，而是解释异常检测模型的预测和实验结果。</a:t>
            </a:r>
          </a:p>
          <a:p xmlns:a="http://schemas.openxmlformats.org/drawingml/2006/main">
            <a:r>
              <a:t>强调三类问题：模型表现、窗口归因、模型比较。</a:t>
            </a:r>
          </a:p>
          <a:p xmlns:a="http://schemas.openxmlformats.org/drawingml/2006/main">
            <a:r>
              <a:t>说明普通 RAG 的不足：只有文本证据，没有窗口级时序统计特征。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这一页按数据流讲：问题先经过 Router，决定模式和是否需要真实窗口。</a:t>
            </a:r>
          </a:p>
          <a:p xmlns:a="http://schemas.openxmlformats.org/drawingml/2006/main">
            <a:r>
              <a:t>Retriever 找知识库证据，WindowAnalyzer 生成窗口事实卡，AnswerWriter 生成回答，CitationAuditor 做评估。</a:t>
            </a:r>
          </a:p>
          <a:p xmlns:a="http://schemas.openxmlformats.org/drawingml/2006/main">
            <a:r>
              <a:t>最后 MemoryCompressor 压缩摘要，JsonlRunStore 保存 state/events/runs。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这里不要逐行解释代码，只讲职责边界。</a:t>
            </a:r>
          </a:p>
          <a:p xmlns:a="http://schemas.openxmlformats.org/drawingml/2006/main">
            <a:r>
              <a:t>强调 EvidenceRetriever 在 comparison 下会分别检索多个模型，再合并。</a:t>
            </a:r>
          </a:p>
          <a:p xmlns:a="http://schemas.openxmlformats.org/drawingml/2006/main">
            <a:r>
              <a:t>说明 Supervisor 是手写编排，LangGraph 是 StateGraph 编排，两者并存。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这一页重点解释 AgentState，不要把它当普通变量，而是一次运行的事实账本。</a:t>
            </a:r>
          </a:p>
          <a:p xmlns:a="http://schemas.openxmlformats.org/drawingml/2006/main">
            <a:r>
              <a:t>state.json 是最终/当前状态，events.jsonl 是过程事件，runs.jsonl 是运行索引。</a:t>
            </a:r>
          </a:p>
          <a:p xmlns:a="http://schemas.openxmlformats.org/drawingml/2006/main">
            <a:r>
              <a:t>老师如果问为什么不用全局变量，可以回答：Pydantic 状态可序列化、可验证、可复现。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明确说明：这里不是 LangChain Router。</a:t>
            </a:r>
          </a:p>
          <a:p xmlns:a="http://schemas.openxmlformats.org/drawingml/2006/main">
            <a:r>
              <a:t>主路径是 deterministic rule router，根据关键词和已知模型/数据集列表判断。</a:t>
            </a:r>
          </a:p>
          <a:p xmlns:a="http://schemas.openxmlformats.org/drawingml/2006/main">
            <a:r>
              <a:t>低置信度时 maybe_llm_route 只是预留接口，当前离线模式不会真正调用 LLM structured router。</a:t>
            </a:r>
          </a:p>
          <a:p xmlns:a="http://schemas.openxmlformats.org/drawingml/2006/main">
            <a:r>
              <a:t>comparison 已支持 model_names 和 dataset_names。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这一页要诚实说明真实窗口怎么来的：用 SMD_test.npy 和标签定位异常密集窗口。</a:t>
            </a:r>
          </a:p>
          <a:p xmlns:a="http://schemas.openxmlformats.org/drawingml/2006/main">
            <a:r>
              <a:t>S9001 是窗口事实卡证据 id，它会进入 retrieved、answer citations、metrics 和 memory。</a:t>
            </a:r>
          </a:p>
          <a:p xmlns:a="http://schemas.openxmlformats.org/drawingml/2006/main">
            <a:r>
              <a:t>同时说明限制：它不是 DADA 原模型的逐点异常分数。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解释为什么不用普通函数直接调用：需要可观测性和失败记录。</a:t>
            </a:r>
          </a:p>
          <a:p xmlns:a="http://schemas.openxmlformats.org/drawingml/2006/main">
            <a:r>
              <a:t>ToolSandbox 用子进程执行工具，支持 allowlist、cwd 限制、timeout 和 stdout/stderr 捕获。</a:t>
            </a:r>
          </a:p>
          <a:p xmlns:a="http://schemas.openxmlformats.org/drawingml/2006/main">
            <a:r>
              <a:t>诚实说明它不是完整安全沙盒，只是轻量 workflow 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这一页讲评测和恢复，不要夸大成完全自动修复。</a:t>
            </a:r>
          </a:p>
          <a:p xmlns:a="http://schemas.openxmlformats.org/drawingml/2006/main">
            <a:r>
              <a:t>resume 是跳过已有终态结果，rerun_failed 是只重跑失败样本。</a:t>
            </a:r>
          </a:p>
          <a:p xmlns:a="http://schemas.openxmlformats.org/drawingml/2006/main">
            <a:r>
              <a:t>当前还没有根据失败上下文自动调整策略，这个可以作为后续计划。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这页要讲清楚：classic workflow 没删，LangGraph 是并行版本。</a:t>
            </a:r>
          </a:p>
          <a:p xmlns:a="http://schemas.openxmlformats.org/drawingml/2006/main">
            <a:r>
              <a:t>LangGraph 用 conditional edges 表达 route 后是否 retrieve、retrieve 后是否 window、失败是否进入 fail。</a:t>
            </a:r>
          </a:p>
          <a:p xmlns:a="http://schemas.openxmlformats.org/drawingml/2006/main">
            <a:r>
              <a:t>诚实说明 LangGraph 改善的是编排结构和可扩展性，不是直接让答案更好。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这一页直接给出测试命令和结果。</a:t>
            </a:r>
          </a:p>
          <a:p xmlns:a="http://schemas.openxmlformats.org/drawingml/2006/main">
            <a:r>
              <a:t>强调覆盖的不只是回答能跑，而是状态落盘、S9001 一致性、comparison 多模型和 LangGraph 都有测试。</a:t>
            </a:r>
          </a:p>
          <a:p xmlns:a="http://schemas.openxmlformats.org/drawingml/2006/main">
            <a:r>
              <a:t>如果老师问效果，说明目前更多验证工程语义和可追踪性；答案质量还依赖检索质量和 LLM provider。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最后一页主动讲不足，显得更可信。</a:t>
            </a:r>
          </a:p>
          <a:p xmlns:a="http://schemas.openxmlformats.org/drawingml/2006/main">
            <a:r>
              <a:t>特别强调：LLM structured router 是预留接口，不是已完成能力；LangGraph 主要解决编排，不直接提升答案质量。</a:t>
            </a:r>
          </a:p>
          <a:p xmlns:a="http://schemas.openxmlformats.org/drawingml/2006/main">
            <a:r>
              <a:t>如果老师追问，可以回到具体文件：router.py、langgraph_workflow.py、hallucination.py。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aa3a75659847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19a745fa6b48d1" /><Relationship Type="http://schemas.openxmlformats.org/officeDocument/2006/relationships/slideLayout" Target="/ppt/slideLayouts/slideLayout1.xml" Id="Rc9e36907071046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e36907071046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6705f5d394517" /><Relationship Type="http://schemas.openxmlformats.org/officeDocument/2006/relationships/notesSlide" Target="/ppt/notesSlides/notesSlide1.xml" Id="Rd1a73adc504e46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2347284b44c9f" /><Relationship Type="http://schemas.openxmlformats.org/officeDocument/2006/relationships/notesSlide" Target="/ppt/notesSlides/notesSlide2.xml" Id="R5d66f1ab8c3e4a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60c8bff6541c1" /><Relationship Type="http://schemas.openxmlformats.org/officeDocument/2006/relationships/notesSlide" Target="/ppt/notesSlides/notesSlide3.xml" Id="R331ee191897a45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d9f9c0dc44d63" /><Relationship Type="http://schemas.openxmlformats.org/officeDocument/2006/relationships/notesSlide" Target="/ppt/notesSlides/notesSlide4.xml" Id="Rf93ca86a1b2342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225e3a565423d" /><Relationship Type="http://schemas.openxmlformats.org/officeDocument/2006/relationships/notesSlide" Target="/ppt/notesSlides/notesSlide5.xml" Id="Rd044dfc85fa04b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ce44f2ca34d27" /><Relationship Type="http://schemas.openxmlformats.org/officeDocument/2006/relationships/notesSlide" Target="/ppt/notesSlides/notesSlide6.xml" Id="Rc7550f37ffe248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2a9cfc22b4694" /><Relationship Type="http://schemas.openxmlformats.org/officeDocument/2006/relationships/notesSlide" Target="/ppt/notesSlides/notesSlide7.xml" Id="R571c38434de34c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504da664d4fcf" /><Relationship Type="http://schemas.openxmlformats.org/officeDocument/2006/relationships/notesSlide" Target="/ppt/notesSlides/notesSlide8.xml" Id="R39724fd1ddb247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09cd419544534" /><Relationship Type="http://schemas.openxmlformats.org/officeDocument/2006/relationships/notesSlide" Target="/ppt/notesSlides/notesSlide9.xml" Id="R843115a94ae442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abe867b2748bf" /><Relationship Type="http://schemas.openxmlformats.org/officeDocument/2006/relationships/notesSlide" Target="/ppt/notesSlides/notesSlide10.xml" Id="R1554979c66bb42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887a7ccd04377" /><Relationship Type="http://schemas.openxmlformats.org/officeDocument/2006/relationships/notesSlide" Target="/ppt/notesSlides/notesSlide11.xml" Id="Rf08f2c3f58a441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77475322543b1" /><Relationship Type="http://schemas.openxmlformats.org/officeDocument/2006/relationships/notesSlide" Target="/ppt/notesSlides/notesSlide12.xml" Id="R502f3b049a4a4c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6D29C4-4C50-49AC-BD6C-0F8648B7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33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面向时间序列异常解释的</a:t>
            </a:r>
          </a:p>
          <a:p xmlns:a="http://schemas.openxmlformats.org/drawingml/2006/main">
            <a:pPr algn="l">
              <a:defRPr sz="3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Multi-Agent RAG 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D0AC9-FECF-4924-A7A0-9B813808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Pydantic 状态管理、工具沙盒、压缩记忆、Harness 评测与 LangGraph 编排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E79FF-50A4-4403-8115-2B020C41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61C9E-5C46-4976-9F2C-6F8A7A9E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TS-Explain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F3B76-7BF1-499D-BEF4-26DC795C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9090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9525">
            <a:solidFill>
              <a:srgbClr val="CFFA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90217-AAED-4C58-94F7-9A9FA109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480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55E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55E75"/>
                </a:solidFill>
                <a:latin typeface="Microsoft YaHei"/>
                <a:ea typeface="Microsoft YaHei"/>
                <a:cs typeface="Microsoft YaHei"/>
              </a:rPr>
              <a:t>技术答辩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48792-145B-429A-BC01-F5DAC253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9090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2DCF8-B0A6-4542-A959-5957D26E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480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rPr>
              <a:t>5-8 分钟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085348-8966-49E8-99C7-C7F089CB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876300"/>
            <a:ext cx="2476500" cy="3905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0478">
            <a:solidFill>
              <a:srgbClr val="BFDB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A4DE4-44C2-40F9-B917-16C55FA4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0096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本次介绍重点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17822-2F3B-41F6-9604-78B8BA1D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333500"/>
            <a:ext cx="21336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1. 项目要解释什么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2. Agent 工作流如何跑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3. 状态、沙盒、记忆如何管理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4. LangGraph 接入意义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5. 当前不足与后续计划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B7036-325C-4762-A781-B2E21070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答辩定位：技术实现说明，不是商业宣传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F13756-C4D3-446A-B490-481793E4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7258F-A4EC-4C8E-959C-B7D2D405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项目根目录：README.md；核心入口：agent_runtime/workflow.py, agent_runtime/langgraph_workflow.py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65D62-6DB5-4971-8549-8F718926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TS-Explain 技术答辩</a:t>
            </a:r>
          </a:p>
        </p:txBody>
      </p:sp>
    </p:spTree>
    <p:extLst>
      <p:ext uri="{BB962C8B-B14F-4D97-AF65-F5344CB8AC3E}">
        <p14:creationId xmlns:p14="http://schemas.microsoft.com/office/powerpoint/2010/main" val="1025652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B9FB0D-352F-4ED4-BC25-6A721E25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从“检索文本”到“解释时序异常检测结果”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7CB32-B3EE-4777-9CE0-DCA71D60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项目要解决的问题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D791A-3DF4-4158-BD42-C959A005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2CABD-AE61-4F19-BD54-BB7C4468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314325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6AB3D-AD73-4B89-B275-1EED270F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0020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问题 1：模型表现解释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08993-F3C3-4B96-8162-23FA618E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2800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为什么模型 X 在数据集 Y 上 F1 更高或更低？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需要实验指标 + 模型机制共同支撑。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C93C7-7DF0-440F-9BF8-5E259408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66850"/>
            <a:ext cx="314325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C2329-5613-41A8-ABD1-B1927341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0020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问题 2：真实窗口解释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B698F-813E-4E14-9000-0C2AC79F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24050"/>
            <a:ext cx="2800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这个时间窗口为什么被判为异常？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哪个变量、趋势、周期或残差更异常？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80486-4B9F-4A9C-96BB-CDA8A6E1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314325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C1988-A69D-439A-AD1A-AF90649F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0020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问题 3：模型对比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839BA-6120-4E99-9B9B-FDE5B45A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2800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DADA 和 CATCH 在 SMD 上比哪个好？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需要同时拿到多个模型证据。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5C783-2863-49ED-950F-5955C0B7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0000"/>
            <a:ext cx="409575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F9782-9CBB-43FF-81BA-6589E7AA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43350"/>
            <a:ext cx="3752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普通 RAG 的限制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07467-CD43-4865-9D43-F77DDEA9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67200"/>
            <a:ext cx="3752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只能检索论文/README/实验表。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缺少窗口级时序事实，难解释“这一段为什么异常”。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0A6F5-EDD1-404F-9B91-BBBB6E2A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0530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99A29A-31F8-43CA-9549-ECDBA105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10000"/>
            <a:ext cx="409575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0478">
            <a:solidFill>
              <a:srgbClr val="A5F3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CE0148-88F9-43F5-9E5D-DA38DE64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43350"/>
            <a:ext cx="3752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TS-Explain 的做法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1C30A1-6CE1-43EA-9C01-1180DBDB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67200"/>
            <a:ext cx="3752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 RAG 证据、真实窗口 TS-Fact Card、引用评估和运行状态放入同一个可追踪 workflow。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903C31-D784-4C65-BAB3-EA5F59C7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FB1D23-4520-4D8B-BDF0-A69874F3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代码位置：README.md / feature_extraction/real_window_resolver.py / agent_runtime/schema.py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B21C67-3140-4C4C-BD26-402B0B1D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TS-Explain 技术答辩</a:t>
            </a:r>
          </a:p>
        </p:txBody>
      </p:sp>
    </p:spTree>
    <p:extLst>
      <p:ext uri="{BB962C8B-B14F-4D97-AF65-F5344CB8AC3E}">
        <p14:creationId xmlns:p14="http://schemas.microsoft.com/office/powerpoint/2010/main" val="19424410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63FC57-3F50-4527-B5C1-D140D229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用户问题进入 Agent workflow 后，证据、答案和评估都落到状态记录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1144B-C02C-4BB9-9608-7981C443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整体架构图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CF963-9955-4089-89EA-E18D7A8A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D1A8F-DD5F-4630-B05B-E8BD3FF7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16002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E443C-A725-4CAF-9452-6867EA00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用户问题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E7BC8-60CD-410F-BA5D-CDDE81C6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自然语言输入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CC0C1-7E65-4FDB-9CE4-547648D4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860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79AE0-51B2-4F6A-9E9A-D65ACD40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885950"/>
            <a:ext cx="16002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DD721-C622-4DF1-87DB-66D5ACB1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0193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Router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724FF-4309-4BE3-8FA5-82E7353B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43150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rag-only / rag-ts / comparison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A02A1-4F64-4457-8291-CB2DC7F3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2860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DE088-5306-4340-B976-7537A0D8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85950"/>
            <a:ext cx="16002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4B88A-C36C-4225-A699-4999C2EE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193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Retriever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6F17D-C1F3-4586-91EF-CC6E5D9C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论文、实验、元数据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19086-F42D-4C91-B181-8CD54BA0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860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2C4743-DF22-4989-9BC1-A52A06DC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885950"/>
            <a:ext cx="16002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E2DCB-710F-4EBC-AFD0-7D94ECD0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193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WindowAnalyzer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EC0F7D-7158-47FB-9888-7B07037E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43150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可选 TS-Fact Card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BE278E-76F1-4AE1-83AB-D0FB9E45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2860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859E6B-795B-430F-82B7-8364891F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85950"/>
            <a:ext cx="16002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EA538B-E9EC-4789-A319-3BE58886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193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AnswerWriter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A1E06D-507A-406B-86B0-57950F4E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带引用答案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4F76C2-FCC2-4EB8-A7CF-27D0573C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860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EDE3DC-7AAA-4AEC-8D57-7FD16F36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1885950"/>
            <a:ext cx="16002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8C3713-3A8B-495E-BB89-473AEA13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0193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CitationAuditor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A661A8-90AD-48BD-ABEA-A2D99602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343150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幻觉率 / 引用一致性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F5B1A0-0486-4B6C-B457-0C6BE755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33800"/>
            <a:ext cx="23812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54C704-D4EA-442D-A478-D3ABE926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67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MemoryCompressor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4A3B19-0811-436E-A05D-0822589B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9100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压缩运行历史：关键证据、决策、失败原因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C3C2EA-91DB-45CD-A389-BB1396AA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33800"/>
            <a:ext cx="23812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0478">
            <a:solidFill>
              <a:srgbClr val="C7D2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CB600A-A06B-45C9-AD99-71ED4C6B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67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状态落盘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8D1518-CCAF-42F2-80B9-4EED5AA0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9100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state.json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事件：events.jsonl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索引：runs.jsonl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A23553-D888-45CD-BEC3-EDB5170F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33800"/>
            <a:ext cx="23812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0478">
            <a:solidFill>
              <a:srgbClr val="FED7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DA269A-CFBF-4C89-9DA9-37C13321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67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04A292-04E1-4D46-AB62-BBA0FBB5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9100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批量样本、resume、rerun_failed、报告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F1601F-1480-41ED-B100-EADB544D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05150"/>
            <a:ext cx="4381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6B32D6-2B54-4888-BA2E-9F2D2DC8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42600E-6E27-412B-BB11-BEC6E210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代码位置：agent_runtime/workflow.py / agent_runtime/langgraph_workflow.py / memory/summarizer.py / harness/runner.py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A4CB4A-F315-4732-BDFE-FAE8E168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TS-Explain 技术答辩</a:t>
            </a:r>
          </a:p>
        </p:txBody>
      </p:sp>
    </p:spTree>
    <p:extLst>
      <p:ext uri="{BB962C8B-B14F-4D97-AF65-F5344CB8AC3E}">
        <p14:creationId xmlns:p14="http://schemas.microsoft.com/office/powerpoint/2010/main" val="15587784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94F3E3-4DC6-4285-9B89-94B9B862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每个 Agent 只做一类事，便于测试和追踪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E9C15-BC37-4F70-89A5-68BEFE9C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多 Agent 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09460-1C2B-4070-80A2-23DD4FE4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22AF1-76FD-4419-8F67-04F23952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1CA1E-A2AD-4CBE-B6A1-79C00D91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E4E10-DCF0-426D-99DA-1AF25668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3525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73CEC-8FC7-46C0-BDDE-878EB515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287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7BB13-E915-44C4-86C8-422C5A52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3525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A3275-86CA-4BC6-B4BA-2759C701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287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代码文件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B525F-84F0-465B-AD33-2AA421EA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5AF1D-4020-40B5-9073-01FC7B52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QueryRouter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00AFC-62B5-45EC-A3EA-2DB3C68B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050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0C806D-5F3B-4074-BC09-A8057E47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812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判断 rag-only / rag-ts / comparison；计算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09C0C-F066-4652-A209-540C80BC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050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4E81DF-F6D3-415A-80DC-53F49F34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8120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tool_functions.py / router.py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7492F-A618-4442-811D-C98D70F2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F65384-FB07-47BA-A25C-5ED7281A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EvidenceRetriever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036928-7AC1-4A50-96A6-4968595E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574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91C661-CC07-4918-A148-B30481AF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336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检索论文摘要、实验指标、数据集元信息；comparison 时合并多模型证据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4F61E7-1568-4D41-92F1-9BC15D97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574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3F3E48-E52B-49A2-99EF-33480AF6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336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workflow.py / langgraph_workflow.py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DB30D1-5EC9-4142-B0B8-F6031B6C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2F3AD2-08C0-40AC-AA18-EF7800FC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WindowAnalyzer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7DE730-9991-4673-877C-3F26F077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099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187553-913D-495D-8843-ABE23381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861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解析真实 SMD 窗口并生成 TS-Fact Card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BECCCE-89B5-4552-9803-851CBB86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099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5B6808-EF64-47D3-A5BD-563D31B5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8610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tool_functions.py / real_window_resolver.py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1A89DF-E6BA-495D-A13B-74EF998E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2AEFA1-3C8C-4F2D-AE3E-5B1B680B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AnswerWriter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2CCB25-C21D-40E1-A3B2-29A3B9DE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623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B81751-64CB-41CA-9CD6-8535B2C8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385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基于同一批 retrieved evidence 生成带引用答案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18ABD1-7560-46A6-BB26-ECD8F859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623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D72409-67D6-4B84-8BF7-4457F6A1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tool_functions.py / llm_interface/base.py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7A9707-2487-456C-8C57-72E14830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0D85C0-7A01-48E5-86B6-91D303AD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CitationAuditor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3DAAD2-8069-4710-A95B-35147434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148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4ED149-4AE5-4794-ABAC-922BBFC6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1910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评估 hallucination、citation_fidelity、answer_quality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BC4EC7-9343-427D-8476-CD377A93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148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82D0B1-87AD-47C1-A789-EB6267D3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9100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tool_functions.py / evaluation/evaluator.py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5B6534-977D-4A21-B40C-24C1B6D0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60384E-9FF1-4AD1-8E32-462574A5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Supervisor / LangGraph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50F360-8E8A-44DE-8D6A-FA75CC1D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672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7B066A-E1AB-4DE2-AA8D-C4D9284B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434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编排 route -&gt; retrieve -&gt; window -&gt; answer -&gt; audit -&gt; finish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F14ADC-446F-4E6D-8105-8715ED35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672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329B6D-1CA3-49FC-8F25-C7F3EFC2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434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workflow.py / langgraph_workflow.py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020625-A6CB-41E7-9BDA-ACBF8204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709D01-F27A-4F0C-A98E-BD60A020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代码位置：agent_runtime/workflow.py / agent_runtime/tool_functions.py / agent_runtime/langgraph_workflow.py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62349D9-E93F-4395-B891-ABC819BB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TS-Explain 技术答辩</a:t>
            </a:r>
          </a:p>
        </p:txBody>
      </p:sp>
    </p:spTree>
    <p:extLst>
      <p:ext uri="{BB962C8B-B14F-4D97-AF65-F5344CB8AC3E}">
        <p14:creationId xmlns:p14="http://schemas.microsoft.com/office/powerpoint/2010/main" val="8137774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AFC0E3-5166-4234-836F-93932E4E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AgentState 是一次运行的事实账本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464F1-10F4-441F-A377-1B9DF7B9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Pydantic 状态管理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6EC01-E9B5-4E36-BFDF-10D9CEED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B53F7-3BAF-4426-A563-4A58A188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33528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DC20E-2584-4700-81D0-AABA61C2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AgentState 核心字段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456CC-93C1-4135-A1D0-2795B641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30099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route：路由结果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retrieved：本次检索证据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fact_card_text：窗口事实卡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answer / citations：最终回答与引用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metrics：评估指标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steps：ToolCall + Observation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memory_summary：压缩记忆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7A1A3-9BF8-462A-BB80-A8B56EB4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571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0BA75-221E-4736-AB65-C23BBB20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200150"/>
            <a:ext cx="23812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0478">
            <a:solidFill>
              <a:srgbClr val="C7D2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2F633-347A-43A2-A750-ECDFBBEA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3335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state.json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8DF44D-1DF3-42C0-9BC3-18647750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573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当前运行状态快照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便于复现和调试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1EE3D-D354-4F5D-BB86-028A19D2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24150"/>
            <a:ext cx="23812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0478">
            <a:solidFill>
              <a:srgbClr val="A5F3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713B2-E602-4D6D-859D-E25779E0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575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events.jsonl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944015-66D8-43E4-9CA8-36763DE8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813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节点/工具事件流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记录开始、结束、失败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B61565-494A-4CF5-93C2-63C58BC4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248150"/>
            <a:ext cx="23812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0478">
            <a:solidFill>
              <a:srgbClr val="BBF7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2B0161-96CB-4FCC-A8B6-DEF73F15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815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runs.jsonl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88A24-6F7B-45DC-AD27-DBF077AC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053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运行索引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保存 run_id、status、metrics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2171F5-E728-4DEE-8B25-B308B554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2667000" cy="224790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BF005-7DF9-4070-80EB-2E6FE47C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336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为什么这样设计？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59AB9A-C09F-4304-B306-3CF79714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2324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1. 运行过程可追踪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2. 失败时能定位到工具调用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3. Harness 能按 run_id 比较结果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4. LangGraph 和 classic 可复用同一状态结构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A8EF73-09FB-4B19-B22D-C5093482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884460-1F6A-4D68-B5B3-8FF06A49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代码位置：agent_runtime/schema.py / agent_runtime/store.py / memory/summarizer.py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B5D6FC-0B01-42A7-8D9C-5D1C669B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TS-Explain 技术答辩</a:t>
            </a:r>
          </a:p>
        </p:txBody>
      </p:sp>
    </p:spTree>
    <p:extLst>
      <p:ext uri="{BB962C8B-B14F-4D97-AF65-F5344CB8AC3E}">
        <p14:creationId xmlns:p14="http://schemas.microsoft.com/office/powerpoint/2010/main" val="15001808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376DE1-C432-4499-BB87-8BF9FA97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规则路由为主，LLM structured router 目前只是预留接口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3D472-0A5D-48C6-A891-C4085388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路由策略：Hybrid Router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2395F-B1D7-434B-A649-1C2AB33D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4B344-295D-4F70-9F93-19376E3E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3812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93C5F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2257E-6F65-4DDD-A27A-D8337F42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规则路由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9ECD6-9797-44EA-B03C-CDE94581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2038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infer_filter_lists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识别模型/数据集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识别窗口词/比较词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0D38B-2018-4F40-87A1-6D44E52D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00"/>
            <a:ext cx="5143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348F7-62CE-45D0-869F-9BB0D8F0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28750"/>
            <a:ext cx="23812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0B03C-957E-417E-B1C6-EA99BE64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621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置信度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A4ED0-D7C5-4396-8E93-5DEA59B0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85950"/>
            <a:ext cx="2038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confidence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uncertainty_reasons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router_type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79FE9-79C9-4B81-AE0A-99AC2713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05000"/>
            <a:ext cx="5143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265FB-124A-41BC-B4C1-CD9D3D09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28750"/>
            <a:ext cx="31432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FCD3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A6F1D-1E77-4855-946B-5D43560D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56210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低置信度兜底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32266-DE12-449F-8108-CCFDF603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85950"/>
            <a:ext cx="2800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maybe_llm_route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当前仅标记 hybrid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不调用 LangChain Router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A27E5-21A5-47AA-AD43-3A50F67E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42862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0478">
            <a:solidFill>
              <a:srgbClr val="A5F3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61AD32-9403-414F-8621-42656894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52850"/>
            <a:ext cx="3943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例 1：真实窗口问题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65C77-C84D-4FED-8F35-C571D87D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3943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“DADA 在 SMD 的真实异常窗口为什么被判为异常？”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-&gt; question_type=window_explanation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-&gt; mode=rag-ts, needs_window=True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E95861-27C5-43CD-AF89-72A5369C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19500"/>
            <a:ext cx="42862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0478">
            <a:solidFill>
              <a:srgbClr val="BBF7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AEBCF6-E7F4-431A-A532-6BE38F9A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52850"/>
            <a:ext cx="3943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例 2：多模型比较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034194-C4AB-464C-A0CD-A7485EDF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76700"/>
            <a:ext cx="3943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“DADA 和 CATCH 在 SMD 上比哪个好？”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-&gt; question_type=comparison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-&gt; model_names=[DADA, CATCH]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00756F-4737-4B69-BF0C-1EC07785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C03156-895B-40D2-86B9-385D22B7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代码位置：agent_runtime/tool_functions.py / agent_runtime/router.py / knowledge_base/retrieval/query_rewriter.py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0AF22D-C3AB-45AE-A9B3-69FB01F8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TS-Explain 技术答辩</a:t>
            </a:r>
          </a:p>
        </p:txBody>
      </p:sp>
    </p:spTree>
    <p:extLst>
      <p:ext uri="{BB962C8B-B14F-4D97-AF65-F5344CB8AC3E}">
        <p14:creationId xmlns:p14="http://schemas.microsoft.com/office/powerpoint/2010/main" val="14376899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3391BF-CBF2-4FA5-89B5-A69D1409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TS-Fact Card 是窗口级证据，不是普通文本检索结果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03FF9-E843-4722-8FE1-EE25775B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真实窗口解释与 S9001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36D42-CC72-4820-8F50-B5E66567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DC186-8C47-4DCB-9BBF-061151F9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952750" cy="36195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0478">
            <a:solidFill>
              <a:srgbClr val="A5F3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0C7D7-1701-405C-8CCE-AFA60DCA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14475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WindowAnalyzer 输出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9CCBC-BEEE-44A7-AD37-D94A7451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8325"/>
            <a:ext cx="26098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窗口来源：SMD_test.npy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标签密度：选择异常密集窗口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趋势：Kendall τ / STL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周期：ACF / FFT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相关性：Pearson / 变化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变点：ruptures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变量贡献：attribution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D0CEC-A3F9-48A0-8DF0-F4EBC2AE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14650"/>
            <a:ext cx="552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B87D9-8C05-4E19-941E-320FE6DD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76400"/>
            <a:ext cx="28575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FCD3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DDF1F-CA02-4AA5-8C58-45BDA5AC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8097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S9001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9E96A-31D1-4635-9789-46138682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33600"/>
            <a:ext cx="251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作为 TS-Fact Card 的 citation_id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插入 state.retrieved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供 answer / metrics / memory 共同使用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9CE06-5381-4EF2-B600-628E896A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90900"/>
            <a:ext cx="28575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93FBB-17E5-4405-BD25-77572A83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242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避免重复注入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7CDC2-16DE-4296-87C9-5DF7F1DE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48100"/>
            <a:ext cx="251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state.retrieved 保留 S9001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prompt 中只通过 TS-Fact Card 专区注入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不在普通 retrieval_context 重复出现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3DD80-35B8-4538-AD52-D786680E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62150"/>
            <a:ext cx="2381250" cy="224790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0478">
            <a:solidFill>
              <a:srgbClr val="FED7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6496A-89BC-43F6-BB18-C29D02BD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答辩时要强调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31FE74-AE60-4781-8D59-DCB9FF5B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19350"/>
            <a:ext cx="20383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当前真实窗口来自 SMD 标签定位。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这不是 DADA 的逐点 anomaly score。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模型级解释仍依赖 RAG 检索到的实验结果和模型说明。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9801EB-EC77-4867-9866-421C935D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E89FDD-BF12-4F64-9226-EC705CAD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代码位置：agent_runtime/tool_functions.py / feature_extraction/real_window_resolver.py / llm_interface/base.py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9A55B4-C235-42C5-B05D-E99548C4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TS-Explain 技术答辩</a:t>
            </a:r>
          </a:p>
        </p:txBody>
      </p:sp>
    </p:spTree>
    <p:extLst>
      <p:ext uri="{BB962C8B-B14F-4D97-AF65-F5344CB8AC3E}">
        <p14:creationId xmlns:p14="http://schemas.microsoft.com/office/powerpoint/2010/main" val="769433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5661BA-8DD0-44F1-8A9E-73BF4D1E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每次工具调用都有 allowlist、timeout、输出和错误记录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08C9D-F97E-437E-BECB-B8F8F46A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工具沙盒和执行记录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073A6-CF3A-4F7A-A026-45593A1C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64599-0093-436C-BB5D-402B9F5A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1907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0478">
            <a:solidFill>
              <a:srgbClr val="C7D2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5AEFE-9CB8-4F97-993E-C587974A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ToolCall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799BB-3860-4139-BFB0-D7975EE1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tool_name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args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timeout_seconds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cwd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ADCEC-A733-4055-9E0D-054E7C02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76450"/>
            <a:ext cx="5143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92BCF-A867-459A-BC26-1B1AB2E2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28750"/>
            <a:ext cx="2952750" cy="1447800"/>
          </a:xfrm>
          <a:prstGeom xmlns:a="http://schemas.openxmlformats.org/drawingml/2006/main" prst="roundRect">
            <a:avLst>
              <a:gd name="adj" fmla="val 6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AEBB5-4E59-4115-84E9-40C758A9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62100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SubprocessToolSandbox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15064-6404-4CAD-9251-21D40D17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2609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allowlist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项目根目录 cwd 限制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timeout 后终止子进程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stdout/stderr 捕获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B4124-3ABC-444F-A2A6-EB4EA87F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5143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F5B99-A012-4D26-9C3A-F4588269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23812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0478">
            <a:solidFill>
              <a:srgbClr val="BBF7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FF27FA-EF0E-4D54-B868-0665FD54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526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Observation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29C13-4A13-4410-B0CD-5EA4C597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764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ok / output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error_type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error_message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elapsed_seconds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C4D352-FEC9-43FD-8EE9-5DD5031B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52850"/>
            <a:ext cx="3333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C10B56-7411-4E7A-BDDB-5C927C21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8620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AgentStep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71051A-7AF4-418E-8BD5-45FAB76B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10050"/>
            <a:ext cx="2990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 ToolCall 和 Observation 绑定到 steps 中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能追踪哪一步失败、耗时和输出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7FC5DE-D159-4B76-9FAE-5ECE8647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52850"/>
            <a:ext cx="3333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0478">
            <a:solidFill>
              <a:srgbClr val="FED7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FFA916-4993-4CC2-B97F-531FC47F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边界说明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C11CD2-EF2B-4623-8709-6F8C0D5B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0050"/>
            <a:ext cx="2990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这是轻量 workflow 沙盒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不是完整 OS 安全隔离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适合控制项目内工具调用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C15118-6129-4C85-B875-865ED906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1325EE-4CD8-44F9-94E8-223E6A8F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代码位置：sandbox/tool_sandbox.py / agent_runtime/schema.py / agent_runtime/workflow.py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94F01B-C112-469D-9B8C-E1215A3E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TS-Explain 技术答辩</a:t>
            </a:r>
          </a:p>
        </p:txBody>
      </p:sp>
    </p:spTree>
    <p:extLst>
      <p:ext uri="{BB962C8B-B14F-4D97-AF65-F5344CB8AC3E}">
        <p14:creationId xmlns:p14="http://schemas.microsoft.com/office/powerpoint/2010/main" val="5939970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040AC6-A670-4C2D-A2DB-41E9380C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批量样本运行、断点续跑和失败项重跑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8E8A1-F234-4D4C-83E6-9269E6DA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Harness 测试与失败恢复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DF845-3E33-4AA5-A971-A88D813A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0F4C9-A0CB-4768-9A65-2DE93D87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3000375" cy="1485900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E9840-A269-4F2C-BE58-6292F9FF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2657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AgentHarness 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9250D-8E47-4FE6-B323-9CBE2789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6574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HarnessItem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question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dataset_name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model_name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auto_window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provider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63D4C-2E25-4A2C-AA40-EE4E1C94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19300"/>
            <a:ext cx="5143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74BF8-E4EA-43C3-904D-9A33B86D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09700"/>
            <a:ext cx="3000375" cy="1485900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0478">
            <a:solidFill>
              <a:srgbClr val="C7D2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28BB6-842B-45A2-A8EF-E12E54C4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543050"/>
            <a:ext cx="2657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运行策略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39B7E-125A-47FF-8BBA-8AADFCDD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66900"/>
            <a:ext cx="26574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resume=True：跳过已有 succeeded/failed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rerun_failed=True：只重跑最新 failed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D9D9E-FDB6-4892-9840-42496C48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19300"/>
            <a:ext cx="5143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40B1A-BC9E-43F3-892E-E2D7A07A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409700"/>
            <a:ext cx="2190750" cy="1485900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0478">
            <a:solidFill>
              <a:srgbClr val="BBF7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3BD96C-A9FF-4945-9E38-80510468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54305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93817-2811-4FFD-A187-39740C88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66900"/>
            <a:ext cx="18478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harness_results.jsonl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comparison_report.md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agent_runs/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F62BD-2A2E-47BB-A35B-BAAFF229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14750"/>
            <a:ext cx="342900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7A823-DACE-4CE9-8960-EF9D9E61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848100"/>
            <a:ext cx="308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记录字段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9D7B7A-2C4B-40C9-B668-449C9E08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71950"/>
            <a:ext cx="3086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attempt、previous_status、run_id、error、metrics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58C16C-F9C5-42B3-89B1-94CB78B1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4750"/>
            <a:ext cx="342900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0478">
            <a:solidFill>
              <a:srgbClr val="FED7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C55C0B-AA0C-4016-9177-2F312863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48100"/>
            <a:ext cx="308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当前不足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8D1395-DF49-456B-A204-A3665F90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71950"/>
            <a:ext cx="3086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rerun_failed 主要是重新跑失败项。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还没有利用上次失败上下文做智能恢复。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708A6E-BFB0-4A8A-A174-2BD3590B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0749CE-53D9-4A53-AFA2-74BEB29A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代码位置：harness/runner.py / tests/test_agent_workflow.py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29C3FD-B307-4187-A919-CBC9AA1B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TS-Explain 技术答辩</a:t>
            </a:r>
          </a:p>
        </p:txBody>
      </p:sp>
    </p:spTree>
    <p:extLst>
      <p:ext uri="{BB962C8B-B14F-4D97-AF65-F5344CB8AC3E}">
        <p14:creationId xmlns:p14="http://schemas.microsoft.com/office/powerpoint/2010/main" val="15345523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1367C1-F8D0-4033-B49E-9FFE7E62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新增并行引擎，不替换 classic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4609B-A413-4123-9563-523E3DB3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LangGraph 接入：StateGraph 编排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51306-EFED-4B19-883D-0C88B36B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21291-43E5-46A3-BF29-00ED5312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12001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B7CB3-109A-4FC8-B4CC-C78D89AB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526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START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FB2E2-A2E4-4150-BD4F-8F2646EB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885950"/>
            <a:ext cx="304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FB359-009F-4AEB-A75C-4E27D4BE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19250"/>
            <a:ext cx="12001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F475B-0F1E-461F-BCA5-1F4FAC36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7526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route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92D09-157F-4CB6-9F15-B8D8071C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885950"/>
            <a:ext cx="304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C76CC-42EF-486E-802B-8436CF95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19250"/>
            <a:ext cx="12001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FD069-C379-4CC5-8591-88B81979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7526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retrieve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6A552-BE0F-429D-BB6D-2164D1B1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85950"/>
            <a:ext cx="304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36B08-C42E-46C5-AB04-2D1A526D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19250"/>
            <a:ext cx="12001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FEB33-5682-45CD-B45A-0C03D739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7526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window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51986C-66A3-4CD5-A180-5D05F997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07645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optional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31E40-840A-448E-94FC-F793E0F2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85950"/>
            <a:ext cx="304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1A3A1D-E0AA-4647-A80E-47BBBF95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19250"/>
            <a:ext cx="12001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97AB94-5993-43F3-9920-11F522B5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7526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answer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F82D03-D4A6-4A99-845C-AA4669B6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85950"/>
            <a:ext cx="304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F105E1-C1C6-4704-863B-C2251B53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19250"/>
            <a:ext cx="12001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EC9CF3-B6BE-4549-8A92-72731D02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7526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audit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FE6E21-F802-4F71-96BD-1FC75D75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85950"/>
            <a:ext cx="304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44E45E-9E32-44EA-ADDE-4BC6CD62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619250"/>
            <a:ext cx="12001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02F395-D1FC-4C67-ADD5-16904222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7526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finish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C16348-06CA-4FDD-B7CF-FDADFDE0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885950"/>
            <a:ext cx="304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0B8F9E-0A18-4ADB-9E84-7D8B98E2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619250"/>
            <a:ext cx="12001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16B937-914B-407C-A1B2-1745ED71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7526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68DE46-362A-4989-BDCA-2B1AC90A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342900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A67538-B2B6-459A-A573-898A92F8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08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Classic workflow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D78F62-E6C4-4687-B4CC-043BC3BE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19500"/>
            <a:ext cx="30861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手写 Supervisor 编排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文件：agent_runtime/workflow.py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优点：直观、便于调试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C4A3B9-082B-42CA-8F7F-D7B1177E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62300"/>
            <a:ext cx="342900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0478">
            <a:solidFill>
              <a:srgbClr val="C7D2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A132CE-6C1F-4472-8FB3-00F3CB92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95650"/>
            <a:ext cx="308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LangGraph workflow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7F4CA6-5F6B-4076-B790-3683788F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19500"/>
            <a:ext cx="30861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StateGraph + conditional edges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文件：langgraph_workflow.py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优点：分支表达更清楚，后续扩展更自然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41A878-EAD1-4422-B9B7-B267497B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62300"/>
            <a:ext cx="238125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0478">
            <a:solidFill>
              <a:srgbClr val="FED7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0C10B4-E83A-4DD1-A1CB-AB04AA41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956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重要说明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03B68E-AE2F-40D7-A201-C7DB8E93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19500"/>
            <a:ext cx="20383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LangGraph 提升的是编排和可扩展性。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它不直接提升答案质量。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当前没有使用 LangChain Router。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EFE168-5094-4D7C-95DE-68826EF8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11717F-27A2-45BB-925A-B619186D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代码位置：agent_runtime/langgraph_workflow.py / agent_runtime/cli.py / requirements.txt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DA70C6-860D-4CCB-B524-B0AC4029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TS-Explain 技术答辩</a:t>
            </a:r>
          </a:p>
        </p:txBody>
      </p:sp>
    </p:spTree>
    <p:extLst>
      <p:ext uri="{BB962C8B-B14F-4D97-AF65-F5344CB8AC3E}">
        <p14:creationId xmlns:p14="http://schemas.microsoft.com/office/powerpoint/2010/main" val="16482668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8D24D4-1A7B-4187-9B70-ABFE972F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用单元测试验证 workflow、路由、LangGraph 和失败恢复语义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3350F-A39C-4751-B9F2-052A1B6D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测试与当前效果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8D21E-F639-4CAF-AC49-B660E008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630FC-EA7C-4C25-BCDF-1D1FD391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2524125" cy="158115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0478">
            <a:solidFill>
              <a:srgbClr val="86EFA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4F717-ADC7-4463-9F16-2FE1B70B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2181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5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65F46"/>
                </a:solidFill>
                <a:latin typeface="Microsoft YaHei"/>
                <a:ea typeface="Microsoft YaHei"/>
                <a:cs typeface="Microsoft YaHei"/>
              </a:rPr>
              <a:t>测试结果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729F0-9D7F-40A2-AE94-69FFF904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1812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python -m unittest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 discover -s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Ran 26 tests in 58.515s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6E6E1-2828-4F7D-A5FA-1C2457DB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52550"/>
            <a:ext cx="3143250" cy="158115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37FAF-6F6E-4BFF-806C-570E84F2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48590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覆盖的流程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CC86B-9569-43A2-A009-35C4678A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09750"/>
            <a:ext cx="2800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最小 workflow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真实 SMD 窗口 + S9001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comparison 多模型检索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LangGraph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F1F44-FADF-45B5-B0DC-D7CBC64A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52550"/>
            <a:ext cx="3143250" cy="158115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E0455-1A09-4E68-B79E-A6DD2FBC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8590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覆盖的状态语义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B5A74-D052-4AB2-91F5-FF1F41B5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09750"/>
            <a:ext cx="2800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state.json / events.jsonl 存在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memory_summary 非空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harness resume / rerun_failed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引用与幻觉指标字段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BCADF0-31C6-4B74-8D69-F2106966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0869F7-2B9D-448E-8137-09870B59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测试文件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9EF20-4F5D-40F2-BA1D-7E769960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290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A34813-E70E-41A6-8287-FA8E48AD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052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主要断言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F114BD-FA28-4497-8736-E6B3F33B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4E2D10-9B1E-4BD5-9D7E-DED2EE74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052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对应能力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A683CB-B240-4F96-BEBA-38AED392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1E1BA0-F355-4C19-8D4E-AD48AF68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test_agent_workflow.py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F20EF9-71BE-4FB5-B33C-5645F2BD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433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9C5A30-89EF-4AEB-93C2-D662A4A9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19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classic 成功、S9001、一致证据、comparison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BFBFE7-601C-4E8F-B79E-39C07330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433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4D1324-9876-4E3E-AEFD-CADF38BC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19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手写 Supervisor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39ED15-12E5-48C2-89DE-3B093830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D27E0C-D2AC-4EBA-B043-CA714B44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test_langgraph_workflow.py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274715-8AD6-467A-8499-A3C2BD36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577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C8B2AD-9AD5-4EAE-93DE-0A2F1529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339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LangGraph 最小问题、comparison、真实窗口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7566A2-4635-4FAE-9019-14EE381E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577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37EE5B-7F6D-4F4B-95BB-9ED6B3A2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339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StateGraph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DC1E31-F117-4CF6-9C8F-5F4A2608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015FB5-5FBF-4F3F-9524-EFB9DCD0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test_router.py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ECE6D2-C435-4878-9580-69F83B92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720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48ECC5-3FB6-4A59-B9E7-F3AB0F17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482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rag-ts / comparison / ambiguity confidence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A832B9-9AD7-4E45-8399-A03DC2EC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720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E4C8E2-9742-4912-BA4C-A3291EA4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482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Hybrid Router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8E2311-3616-49A4-9122-862665DC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864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7A2BAC-233D-4F0E-9FC7-BA0E4681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test_tool_sandbox.py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77842A-B784-4EF3-8F9D-4B029865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864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8FD081-CBFB-448C-971F-224200F8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626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allowlist、cwd、timeout、stdout/stderr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F57CD3-A081-4245-92DA-E98E7F49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864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0A9C9B-FB8F-4C70-BAA8-973EFFEC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626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工具沙盒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A13DC8-B3A8-438F-AAAE-2D6E2B0F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7E365C-3899-42D7-8E1C-2FE684F1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代码位置：tests/test_agent_workflow.py / tests/test_langgraph_workflow.py / tests/test_router.py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10B5CD-6331-46EF-87A3-F582E042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TS-Explain 技术答辩</a:t>
            </a:r>
          </a:p>
        </p:txBody>
      </p:sp>
    </p:spTree>
    <p:extLst>
      <p:ext uri="{BB962C8B-B14F-4D97-AF65-F5344CB8AC3E}">
        <p14:creationId xmlns:p14="http://schemas.microsoft.com/office/powerpoint/2010/main" val="6012861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1DC8B7-D8CF-4604-A6D1-7028ECE9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诚实说明当前边界，方便进入提问环节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61878-95F6-45BC-820F-F3CBFFDF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不足与后续计划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1DC0C-3D9E-44F1-B080-F4DD7337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7C7F4-C51E-4AA3-AA96-83A8577C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30003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0478">
            <a:solidFill>
              <a:srgbClr val="FED7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BF475-B54B-4479-9ACD-BB792DE0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43050"/>
            <a:ext cx="2657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当前不足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6F3E9-5D03-41B0-8B62-36F19D72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2657475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1. LLM structured router 还未真正接入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2. comparison answer 还可做表格化对比 prompt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3. LangGraph 尚未接 checkpoint / human-in-the-loop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4. citation 评估偏词面匹配，不是真正 NLI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5. 缺少可视化 run viewer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CD1CC-C8B2-4365-815C-B4E4B43B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409700"/>
            <a:ext cx="30003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0478">
            <a:solidFill>
              <a:srgbClr val="BBF7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F70CA-6E93-4C70-A89C-26F95166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43050"/>
            <a:ext cx="2657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后续计划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8A058-6B84-419B-8C82-7B1D58FA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66900"/>
            <a:ext cx="2657475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接入结构化 LLM router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设计 comparison 专用 prompt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LangGraph checkpoint 与中断恢复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引入中文 NLI / reranker 复核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做 state.json + events.jsonl 可视化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11AD0-BA45-455A-BAC0-AF39628C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09700"/>
            <a:ext cx="26670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0478">
            <a:solidFill>
              <a:srgbClr val="C7D2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BB18E-1652-4FD2-99A9-80247689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4305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适合老师追问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76E3C-16C0-4711-8204-7A3B07F1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66900"/>
            <a:ext cx="23241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为什么要 Agent？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为什么要 S9001？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LangGraph 和 classic 差别？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如何判断引用支撑？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真实窗口是否等于模型 score？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B05A4-8583-4720-A504-37A1E4A5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谢谢老师，欢迎提问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C6EC5-6620-4E65-9E56-FBFDF94D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D3640-D064-42C7-A2CC-EF1387DC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代码位置：agent_runtime/router.py / evaluation/metrics/hallucination.py / agent_runtime/langgraph_workflow.py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13C85C-1148-4570-AF76-9131955F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579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TS-Explain 技术答辩</a:t>
            </a:r>
          </a:p>
        </p:txBody>
      </p:sp>
    </p:spTree>
    <p:extLst>
      <p:ext uri="{BB962C8B-B14F-4D97-AF65-F5344CB8AC3E}">
        <p14:creationId xmlns:p14="http://schemas.microsoft.com/office/powerpoint/2010/main" val="14044367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2026-06-17T13:31:46.4090000Z</dcterms:created>
  <dcterms:modified xsi:type="dcterms:W3CDTF">2026-06-17T13:31:46.4090000Z</dcterms:modified>
</coreProperties>
</file>